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ookman Old Style" panose="02050604050505020204" pitchFamily="18" charset="0"/>
      <p:regular r:id="rId13"/>
      <p:bold r:id="rId14"/>
      <p:italic r:id="rId15"/>
      <p:boldItalic r:id="rId16"/>
    </p:embeddedFont>
    <p:embeddedFont>
      <p:font typeface="Bell MT" panose="02020503060305020303" pitchFamily="18" charset="0"/>
      <p:regular r:id="rId17"/>
      <p:bold r:id="rId18"/>
      <p:italic r:id="rId19"/>
    </p:embeddedFont>
    <p:embeddedFont>
      <p:font typeface="Mukta Light" panose="020B0604020202020204" charset="0"/>
      <p:regular r:id="rId20"/>
    </p:embeddedFont>
    <p:embeddedFont>
      <p:font typeface="Pristina" panose="03060402040406080204" pitchFamily="66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Goudy Old Style" panose="02020502050305020303" pitchFamily="18" charset="0"/>
      <p:regular r:id="rId26"/>
      <p:bold r:id="rId27"/>
      <p:italic r:id="rId28"/>
    </p:embeddedFont>
    <p:embeddedFont>
      <p:font typeface="Century Gothic" panose="020B0502020202020204" pitchFamily="34" charset="0"/>
      <p:regular r:id="rId29"/>
      <p:bold r:id="rId30"/>
      <p:italic r:id="rId31"/>
      <p:boldItalic r:id="rId32"/>
    </p:embeddedFont>
    <p:embeddedFont>
      <p:font typeface="Prompt Medium" panose="020B0604020202020204" charset="0"/>
      <p:regular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B21"/>
    <a:srgbClr val="A95B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8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699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164086"/>
            <a:ext cx="11338560" cy="2190115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4358641"/>
            <a:ext cx="11338560" cy="822960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91473" y="5177194"/>
            <a:ext cx="3493008" cy="44957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45920" y="5188615"/>
            <a:ext cx="768096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2640" y="1717040"/>
            <a:ext cx="329184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03032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463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904240"/>
            <a:ext cx="12984479" cy="3362322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360" y="4370071"/>
            <a:ext cx="12588240" cy="1146810"/>
          </a:xfrm>
        </p:spPr>
        <p:txBody>
          <a:bodyPr>
            <a:normAutofit/>
          </a:bodyPr>
          <a:lstStyle>
            <a:lvl1pPr marL="0" indent="0" algn="r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2"/>
            <a:ext cx="8389790" cy="43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70585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9670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0" y="914400"/>
            <a:ext cx="10332720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91" y="2620563"/>
            <a:ext cx="6095989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1" y="3759200"/>
            <a:ext cx="6374130" cy="37032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0960" y="2620563"/>
            <a:ext cx="6126480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759200"/>
            <a:ext cx="6400800" cy="37032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0079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6549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238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4937760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698" y="896111"/>
            <a:ext cx="7812742" cy="656631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4937760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1285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8247888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433486" y="901490"/>
            <a:ext cx="4373954" cy="6560932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8247888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614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32" y="5636833"/>
            <a:ext cx="12986441" cy="983226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8072" y="1129728"/>
            <a:ext cx="12986208" cy="4173793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6620059"/>
            <a:ext cx="12984480" cy="842363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16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04239"/>
            <a:ext cx="12984480" cy="3362960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378960"/>
            <a:ext cx="12156619" cy="1198880"/>
          </a:xfrm>
        </p:spPr>
        <p:txBody>
          <a:bodyPr anchor="ctr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8773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61" y="904240"/>
            <a:ext cx="12181840" cy="3125394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64638" y="4038668"/>
            <a:ext cx="11511283" cy="53333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751835"/>
            <a:ext cx="12181840" cy="815845"/>
          </a:xfrm>
        </p:spPr>
        <p:txBody>
          <a:bodyPr anchor="ctr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71500" y="11201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1076" y="3241548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40018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94" y="1349642"/>
            <a:ext cx="12175423" cy="3014202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0" y="4377979"/>
            <a:ext cx="12173585" cy="1199862"/>
          </a:xfrm>
        </p:spPr>
        <p:txBody>
          <a:bodyPr anchor="t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466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466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8223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64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42496"/>
            <a:ext cx="4147718" cy="74078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22959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2560" y="2641600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240230" y="3484880"/>
            <a:ext cx="4147718" cy="3977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62160" y="2631439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662161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26484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26342" y="5029201"/>
            <a:ext cx="4141898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26342" y="2834640"/>
            <a:ext cx="4141898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26342" y="5848518"/>
            <a:ext cx="4141898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9116" y="5029201"/>
            <a:ext cx="4138722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249116" y="2834640"/>
            <a:ext cx="4138723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249117" y="5848516"/>
            <a:ext cx="4138722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59678" y="5029201"/>
            <a:ext cx="4147763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659826" y="2834640"/>
            <a:ext cx="4137454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659678" y="5848514"/>
            <a:ext cx="4142934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567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2633471"/>
            <a:ext cx="12984480" cy="48289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79829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8560" y="894080"/>
            <a:ext cx="2468880" cy="468376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9360" y="894081"/>
            <a:ext cx="9845041" cy="468376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593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1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76415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9664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6632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266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575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91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9747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4373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07586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1469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837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17297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74720" y="917247"/>
            <a:ext cx="10332720" cy="1551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33473"/>
            <a:ext cx="12984480" cy="48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4432" y="7627621"/>
            <a:ext cx="349300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7627015"/>
            <a:ext cx="9326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5600" y="45720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2641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hf sldNum="0" hdr="0" ftr="0" dt="0"/>
  <p:txStyles>
    <p:titleStyle>
      <a:lvl1pPr algn="r" defTabSz="1097280" rtl="0" eaLnBrk="1" latinLnBrk="0" hangingPunct="1">
        <a:lnSpc>
          <a:spcPct val="90000"/>
        </a:lnSpc>
        <a:spcBef>
          <a:spcPct val="0"/>
        </a:spcBef>
        <a:buNone/>
        <a:defRPr sz="4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4037" y="304633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chemeClr val="tx1">
                    <a:lumMod val="95000"/>
                  </a:schemeClr>
                </a:solidFill>
                <a:latin typeface="Goudy Old Style" panose="02020502050305020303" pitchFamily="18" charset="0"/>
                <a:ea typeface="Prompt Medium" pitchFamily="34" charset="-122"/>
                <a:cs typeface="Prompt Medium" pitchFamily="34" charset="-120"/>
              </a:rPr>
              <a:t>Predicting</a:t>
            </a:r>
            <a:r>
              <a:rPr lang="en-US" sz="4300" dirty="0">
                <a:solidFill>
                  <a:srgbClr val="C6BFEE"/>
                </a:solidFill>
                <a:latin typeface="Goudy Old Style" panose="02020502050305020303" pitchFamily="18" charset="0"/>
                <a:ea typeface="Prompt Medium" pitchFamily="34" charset="-122"/>
                <a:cs typeface="Prompt Medium" pitchFamily="34" charset="-120"/>
              </a:rPr>
              <a:t> </a:t>
            </a:r>
            <a:r>
              <a:rPr lang="en-US" sz="4300" dirty="0">
                <a:solidFill>
                  <a:schemeClr val="tx1">
                    <a:lumMod val="95000"/>
                  </a:schemeClr>
                </a:solidFill>
                <a:latin typeface="Goudy Old Style" panose="02020502050305020303" pitchFamily="18" charset="0"/>
                <a:ea typeface="Prompt Medium" pitchFamily="34" charset="-122"/>
                <a:cs typeface="Prompt Medium" pitchFamily="34" charset="-120"/>
              </a:rPr>
              <a:t>Customer Churn in Telecommunications</a:t>
            </a:r>
            <a:endParaRPr lang="en-US" sz="4300" dirty="0">
              <a:solidFill>
                <a:schemeClr val="tx1">
                  <a:lumMod val="95000"/>
                </a:schemeClr>
              </a:solidFill>
              <a:latin typeface="Goudy Old Style" panose="0202050205030502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632363" y="4590693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i="1" dirty="0">
                <a:solidFill>
                  <a:schemeClr val="tx1">
                    <a:lumMod val="95000"/>
                  </a:schemeClr>
                </a:solidFill>
                <a:latin typeface="+mj-lt"/>
                <a:ea typeface="Mukta Light" pitchFamily="34" charset="-122"/>
                <a:cs typeface="Mukta Light" pitchFamily="34" charset="-120"/>
              </a:rPr>
              <a:t>Machine</a:t>
            </a:r>
            <a:r>
              <a:rPr lang="en-US" sz="1900" i="1" dirty="0">
                <a:solidFill>
                  <a:schemeClr val="tx1">
                    <a:lumMod val="95000"/>
                  </a:schemeClr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Learning Group Assignment</a:t>
            </a:r>
          </a:p>
          <a:p>
            <a:pPr lvl="8">
              <a:lnSpc>
                <a:spcPts val="3100"/>
              </a:lnSpc>
            </a:pPr>
            <a:r>
              <a:rPr lang="en-US" sz="1900" i="1" dirty="0">
                <a:solidFill>
                  <a:schemeClr val="tx1">
                    <a:lumMod val="95000"/>
                  </a:schemeClr>
                </a:solidFill>
                <a:latin typeface="Mukta Light" pitchFamily="34" charset="0"/>
                <a:cs typeface="Mukta Light" pitchFamily="34" charset="-120"/>
              </a:rPr>
              <a:t>		</a:t>
            </a:r>
            <a:r>
              <a:rPr lang="en-US" sz="1900" i="1" dirty="0">
                <a:solidFill>
                  <a:schemeClr val="tx1">
                    <a:lumMod val="95000"/>
                  </a:schemeClr>
                </a:solidFill>
                <a:latin typeface="+mj-lt"/>
                <a:cs typeface="Mukta Light" pitchFamily="34" charset="-120"/>
              </a:rPr>
              <a:t>By  S.Geetha</a:t>
            </a:r>
          </a:p>
          <a:p>
            <a:pPr lvl="8">
              <a:lnSpc>
                <a:spcPts val="3100"/>
              </a:lnSpc>
            </a:pPr>
            <a:r>
              <a:rPr lang="en-US" sz="1900" i="1" dirty="0">
                <a:solidFill>
                  <a:schemeClr val="tx1">
                    <a:lumMod val="95000"/>
                  </a:schemeClr>
                </a:solidFill>
                <a:latin typeface="+mj-lt"/>
                <a:cs typeface="Mukta Light" pitchFamily="34" charset="-120"/>
              </a:rPr>
              <a:t>      		     K.Sravya</a:t>
            </a:r>
          </a:p>
          <a:p>
            <a:pPr lvl="8">
              <a:lnSpc>
                <a:spcPts val="3100"/>
              </a:lnSpc>
            </a:pPr>
            <a:r>
              <a:rPr lang="en-US" sz="1900" i="1" dirty="0">
                <a:solidFill>
                  <a:schemeClr val="tx1">
                    <a:lumMod val="95000"/>
                  </a:schemeClr>
                </a:solidFill>
                <a:latin typeface="+mj-lt"/>
                <a:cs typeface="Mukta Light" pitchFamily="34" charset="-120"/>
              </a:rPr>
              <a:t>     	 	    S.M.Kalyani</a:t>
            </a:r>
          </a:p>
          <a:p>
            <a:pPr lvl="8">
              <a:lnSpc>
                <a:spcPts val="3100"/>
              </a:lnSpc>
            </a:pPr>
            <a:r>
              <a:rPr lang="en-US" sz="1900" i="1" dirty="0">
                <a:solidFill>
                  <a:schemeClr val="tx1">
                    <a:lumMod val="95000"/>
                  </a:schemeClr>
                </a:solidFill>
                <a:latin typeface="+mj-lt"/>
                <a:cs typeface="Mukta Light" pitchFamily="34" charset="-120"/>
              </a:rPr>
              <a:t>      		   V.Srinidhi</a:t>
            </a:r>
            <a:endParaRPr lang="en-US" sz="1900" dirty="0">
              <a:solidFill>
                <a:schemeClr val="tx1">
                  <a:lumMod val="9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489946" y="1565553"/>
            <a:ext cx="1125022" cy="26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350" dirty="0">
              <a:solidFill>
                <a:schemeClr val="tx1">
                  <a:lumMod val="9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8072" y="2023640"/>
            <a:ext cx="5644039" cy="48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chemeClr val="tx1">
                    <a:lumMod val="95000"/>
                  </a:schemeClr>
                </a:solidFill>
                <a:latin typeface="Bookman Old Style" panose="02050604050505020204" pitchFamily="18" charset="0"/>
                <a:ea typeface="Prompt Medium" pitchFamily="34" charset="-122"/>
                <a:cs typeface="Prompt Medium" pitchFamily="34" charset="-120"/>
              </a:rPr>
              <a:t>Why Customer Churn Matters</a:t>
            </a:r>
            <a:endParaRPr lang="en-US" sz="3050" dirty="0">
              <a:solidFill>
                <a:schemeClr val="tx1">
                  <a:lumMod val="9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8781" y="2687966"/>
            <a:ext cx="4234934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Bell MT" panose="02020503060305020303" pitchFamily="18" charset="0"/>
                <a:ea typeface="Mukta Light" pitchFamily="34" charset="-122"/>
                <a:cs typeface="Mukta Light" pitchFamily="34" charset="-120"/>
              </a:rPr>
              <a:t>Customer churn, when subscribers discontinue telecom services, represents a significant challenge for providers. It's often 5-10 times more expensive to acquire a new customer than to retain an existing one</a:t>
            </a:r>
            <a:r>
              <a:rPr lang="en-US" dirty="0">
                <a:solidFill>
                  <a:srgbClr val="DAD8E9"/>
                </a:solidFill>
                <a:ea typeface="Mukta Light" pitchFamily="34" charset="-122"/>
                <a:cs typeface="Mukta Light" pitchFamily="34" charset="-120"/>
              </a:rPr>
              <a:t>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2389" y="4421590"/>
            <a:ext cx="423493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Bell MT" panose="02020503060305020303" pitchFamily="18" charset="0"/>
                <a:ea typeface="Mukta Light" pitchFamily="34" charset="-122"/>
                <a:cs typeface="Mukta Light" pitchFamily="34" charset="-120"/>
              </a:rPr>
              <a:t>The telecommunications industry faces an average annual churn rate of 30-35%. This high turnover rate directly impacts revenue and long-term growth</a:t>
            </a:r>
            <a:r>
              <a:rPr lang="en-US" sz="2000" dirty="0">
                <a:solidFill>
                  <a:srgbClr val="DAD8E9"/>
                </a:solidFill>
                <a:latin typeface="Bell MT" panose="02020503060305020303" pitchFamily="18" charset="0"/>
                <a:ea typeface="Mukta Light" pitchFamily="34" charset="-122"/>
                <a:cs typeface="Mukta Light" pitchFamily="34" charset="-120"/>
              </a:rPr>
              <a:t>. </a:t>
            </a:r>
            <a:endParaRPr lang="en-US" sz="2000" dirty="0">
              <a:latin typeface="Bell MT" panose="020205030603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72" y="5904754"/>
            <a:ext cx="4234934" cy="1731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Bell MT" panose="02020503060305020303" pitchFamily="18" charset="0"/>
                <a:ea typeface="Mukta Light" pitchFamily="34" charset="-122"/>
                <a:cs typeface="Mukta Light" pitchFamily="34" charset="-120"/>
              </a:rPr>
              <a:t>Our project aims to proactively identify customers at risk of churning, enabling companies to implement targeted retention strategies before it's too late.</a:t>
            </a:r>
            <a:endParaRPr lang="en-US" dirty="0">
              <a:latin typeface="Bell MT" panose="020205030603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8845ED-775C-4117-8A90-A74D77062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091" y="1871901"/>
            <a:ext cx="5683170" cy="56831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065C06EC-065F-40F6-A51E-5F39A5FC9EAB}"/>
              </a:ext>
            </a:extLst>
          </p:cNvPr>
          <p:cNvSpPr/>
          <p:nvPr/>
        </p:nvSpPr>
        <p:spPr>
          <a:xfrm>
            <a:off x="3512264" y="875204"/>
            <a:ext cx="52677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reflection blurRad="6350" stA="55000" endA="50" endPos="85000" dir="5400000" sy="-100000" algn="bl" rotWithShape="0"/>
                </a:effectLst>
              </a:rPr>
              <a:t>INTRODUCTION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91540" y="792956"/>
            <a:ext cx="1398984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1167" y="1196340"/>
            <a:ext cx="3866317" cy="48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61167" y="1966793"/>
            <a:ext cx="13108067" cy="1240036"/>
          </a:xfrm>
          <a:prstGeom prst="roundRect">
            <a:avLst>
              <a:gd name="adj" fmla="val 1179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0687" y="1966793"/>
            <a:ext cx="121920" cy="1240036"/>
          </a:xfrm>
          <a:prstGeom prst="roundRect">
            <a:avLst>
              <a:gd name="adj" fmla="val 74922"/>
            </a:avLst>
          </a:prstGeom>
          <a:solidFill>
            <a:srgbClr val="A95B95"/>
          </a:solidFill>
          <a:ln/>
        </p:spPr>
      </p:sp>
      <p:sp>
        <p:nvSpPr>
          <p:cNvPr id="7" name="Text 5"/>
          <p:cNvSpPr/>
          <p:nvPr/>
        </p:nvSpPr>
        <p:spPr>
          <a:xfrm>
            <a:off x="1100495" y="2214682"/>
            <a:ext cx="241649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Predictive Modeling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00495" y="2631638"/>
            <a:ext cx="12520851" cy="32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Develop robust machine learning models to accurately identify customers likely to churn.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1167" y="3398401"/>
            <a:ext cx="13108067" cy="1240036"/>
          </a:xfrm>
          <a:prstGeom prst="roundRect">
            <a:avLst>
              <a:gd name="adj" fmla="val 1179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0687" y="3398401"/>
            <a:ext cx="121920" cy="1240036"/>
          </a:xfrm>
          <a:prstGeom prst="roundRect">
            <a:avLst>
              <a:gd name="adj" fmla="val 74922"/>
            </a:avLst>
          </a:prstGeom>
          <a:solidFill>
            <a:srgbClr val="A95B95"/>
          </a:solidFill>
          <a:ln/>
        </p:spPr>
      </p:sp>
      <p:sp>
        <p:nvSpPr>
          <p:cNvPr id="11" name="Text 9"/>
          <p:cNvSpPr/>
          <p:nvPr/>
        </p:nvSpPr>
        <p:spPr>
          <a:xfrm>
            <a:off x="1100495" y="3646289"/>
            <a:ext cx="241649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Factor Analysis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00495" y="4063246"/>
            <a:ext cx="12520851" cy="32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Uncover and analyze the key demographic, usage, and service factors influencing churn behavior.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61167" y="4830008"/>
            <a:ext cx="13108067" cy="1240036"/>
          </a:xfrm>
          <a:prstGeom prst="roundRect">
            <a:avLst>
              <a:gd name="adj" fmla="val 1179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0687" y="4830008"/>
            <a:ext cx="121920" cy="1240036"/>
          </a:xfrm>
          <a:prstGeom prst="roundRect">
            <a:avLst>
              <a:gd name="adj" fmla="val 74922"/>
            </a:avLst>
          </a:prstGeom>
          <a:solidFill>
            <a:srgbClr val="A95B95"/>
          </a:solidFill>
          <a:ln/>
        </p:spPr>
      </p:sp>
      <p:sp>
        <p:nvSpPr>
          <p:cNvPr id="15" name="Text 13"/>
          <p:cNvSpPr/>
          <p:nvPr/>
        </p:nvSpPr>
        <p:spPr>
          <a:xfrm>
            <a:off x="1100495" y="5077897"/>
            <a:ext cx="2658904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Algorithm Comparison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00495" y="5494853"/>
            <a:ext cx="12520851" cy="32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Evaluate and compare various ML algorithms to determine the most effective for this specific problem.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61167" y="6261616"/>
            <a:ext cx="13108067" cy="1240036"/>
          </a:xfrm>
          <a:prstGeom prst="roundRect">
            <a:avLst>
              <a:gd name="adj" fmla="val 1179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687" y="6261616"/>
            <a:ext cx="121920" cy="1240036"/>
          </a:xfrm>
          <a:prstGeom prst="roundRect">
            <a:avLst>
              <a:gd name="adj" fmla="val 74922"/>
            </a:avLst>
          </a:prstGeom>
          <a:solidFill>
            <a:srgbClr val="A95B95"/>
          </a:solidFill>
          <a:ln/>
        </p:spPr>
      </p:sp>
      <p:sp>
        <p:nvSpPr>
          <p:cNvPr id="19" name="Text 17"/>
          <p:cNvSpPr/>
          <p:nvPr/>
        </p:nvSpPr>
        <p:spPr>
          <a:xfrm>
            <a:off x="1100495" y="6509504"/>
            <a:ext cx="241649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Actionable Insights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100495" y="6926461"/>
            <a:ext cx="12520851" cy="32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Provide clear, data-driven recommendations for telecom stakeholders to reduce churn effectively.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505783" y="1340525"/>
            <a:ext cx="1010483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89936" y="1679258"/>
            <a:ext cx="5412343" cy="42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Dataset Overview &amp; Preparation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9406652" y="2537103"/>
            <a:ext cx="3841313" cy="413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dirty="0">
                <a:solidFill>
                  <a:srgbClr val="DAD8E9"/>
                </a:solidFill>
                <a:latin typeface="Bell MT" panose="02020503060305020303" pitchFamily="18" charset="0"/>
                <a:ea typeface="Mukta Light" pitchFamily="34" charset="-122"/>
                <a:cs typeface="Mukta Light" pitchFamily="34" charset="-120"/>
              </a:rPr>
              <a:t>Our dataset comprises over 7,000 customer records, featuring 14+ attributes like demographics, usage patterns, billing, and service information.</a:t>
            </a:r>
            <a:endParaRPr lang="en-US" dirty="0">
              <a:latin typeface="Bell MT" panose="02020503060305020303" pitchFamily="18" charset="0"/>
            </a:endParaRPr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dirty="0">
                <a:solidFill>
                  <a:srgbClr val="DAD8E9"/>
                </a:solidFill>
                <a:latin typeface="Bell MT" panose="02020503060305020303" pitchFamily="18" charset="0"/>
                <a:ea typeface="Mukta Light" pitchFamily="34" charset="-122"/>
                <a:cs typeface="Mukta Light" pitchFamily="34" charset="-120"/>
              </a:rPr>
              <a:t>Initial cleaning involved removing irrelevant features, such as phone numbers, and verifying no missing values were present.</a:t>
            </a:r>
            <a:endParaRPr lang="en-US" dirty="0">
              <a:latin typeface="Bell MT" panose="02020503060305020303" pitchFamily="18" charset="0"/>
            </a:endParaRPr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dirty="0">
                <a:solidFill>
                  <a:srgbClr val="DAD8E9"/>
                </a:solidFill>
                <a:latin typeface="Bell MT" panose="02020503060305020303" pitchFamily="18" charset="0"/>
                <a:ea typeface="Mukta Light" pitchFamily="34" charset="-122"/>
                <a:cs typeface="Mukta Light" pitchFamily="34" charset="-120"/>
              </a:rPr>
              <a:t>Feature engineering transformed categorical variables using one-hot encoding and normalized numeric data to ensure model compatibility.</a:t>
            </a:r>
            <a:endParaRPr lang="en-US" dirty="0">
              <a:latin typeface="Bell MT" panose="02020503060305020303" pitchFamily="18" charset="0"/>
            </a:endParaRPr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dirty="0">
                <a:solidFill>
                  <a:srgbClr val="DAD8E9"/>
                </a:solidFill>
                <a:latin typeface="Bell MT" panose="02020503060305020303" pitchFamily="18" charset="0"/>
                <a:ea typeface="Mukta Light" pitchFamily="34" charset="-122"/>
                <a:cs typeface="Mukta Light" pitchFamily="34" charset="-120"/>
              </a:rPr>
              <a:t>To address class imbalance, we applied SMOTE (Synthetic Minority Over-sampling Technique) to enhance model fairness and prevent bias towards the majority class.</a:t>
            </a:r>
            <a:endParaRPr lang="en-US" dirty="0">
              <a:latin typeface="Bell MT" panose="020205030603050203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E2C95E4-6BCA-49FB-872C-D243353A8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07" y="2712479"/>
            <a:ext cx="6215364" cy="3560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55715" y="644962"/>
            <a:ext cx="659963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039677" y="1031915"/>
            <a:ext cx="7822049" cy="469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chemeClr val="accent6">
                    <a:lumMod val="40000"/>
                    <a:lumOff val="60000"/>
                  </a:schemeClr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Exploratory Data Analysis (EDA) Highlights</a:t>
            </a:r>
            <a:endParaRPr lang="en-US" sz="295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76632" y="1773555"/>
            <a:ext cx="4509492" cy="5874544"/>
          </a:xfrm>
          <a:prstGeom prst="roundRect">
            <a:avLst>
              <a:gd name="adj" fmla="val 337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888087" y="3212544"/>
            <a:ext cx="2350056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Findings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88087" y="3687366"/>
            <a:ext cx="4086582" cy="2513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26.5% of customers churned, while 73.5% were retained.</a:t>
            </a:r>
            <a:endParaRPr lang="en-US" sz="165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Significant churn drivers identified: high monthly charges, short tenure, and frequent customer service interactions.</a:t>
            </a:r>
            <a:endParaRPr lang="en-US" sz="165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correlation matrix revealed a strong relationship between monthly charges, contract type, and churn likelihood.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557480" y="6730895"/>
            <a:ext cx="8251388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Visualizations also highlighted outliers in tenure data and skewed distributions in usage metrics, informing our feature selection.</a:t>
            </a:r>
            <a:endParaRPr lang="en-US" sz="1650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35514F-4000-496A-9AE0-C8D7F25FC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443" y="1918239"/>
            <a:ext cx="6544588" cy="4620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037" y="781288"/>
            <a:ext cx="2159556" cy="464106"/>
          </a:xfrm>
          <a:prstGeom prst="roundRect">
            <a:avLst>
              <a:gd name="adj" fmla="val 17874"/>
            </a:avLst>
          </a:prstGeom>
          <a:solidFill>
            <a:srgbClr val="321A2C"/>
          </a:solidFill>
          <a:ln/>
        </p:spPr>
      </p:sp>
      <p:sp>
        <p:nvSpPr>
          <p:cNvPr id="3" name="Text 1"/>
          <p:cNvSpPr/>
          <p:nvPr/>
        </p:nvSpPr>
        <p:spPr>
          <a:xfrm>
            <a:off x="1012150" y="855345"/>
            <a:ext cx="1863328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MODEL DEVELOPMENT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4037" y="1344097"/>
            <a:ext cx="7688104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Machine Learning Models Evaluated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864037" y="318873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Logistic Regression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864037" y="3679746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Utilized as our foundational baseline model.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7469505" y="3188732"/>
            <a:ext cx="412253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Decision tree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7469505" y="3679746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Explored for its effectiveness in classification tasks.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64037" y="549437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Random Forest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864037" y="5985391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powerful ensemble method for robust predictions.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7469505" y="549437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K-Nearest Neighbor(KNN)</a:t>
            </a:r>
            <a:endParaRPr lang="en-US" sz="2150" dirty="0"/>
          </a:p>
        </p:txBody>
      </p:sp>
      <p:sp>
        <p:nvSpPr>
          <p:cNvPr id="16" name="Text 10"/>
          <p:cNvSpPr/>
          <p:nvPr/>
        </p:nvSpPr>
        <p:spPr>
          <a:xfrm>
            <a:off x="7469505" y="5985391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Ultimately Memorizes the data instead of training.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864037" y="6658094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Each model underwent rigorous hyperparameter tuning using GridSearchCV and cross-validation to ensure optimal performance.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73944"/>
            <a:ext cx="819864" cy="364569"/>
          </a:xfrm>
          <a:prstGeom prst="roundRect">
            <a:avLst>
              <a:gd name="adj" fmla="val 18962"/>
            </a:avLst>
          </a:prstGeom>
          <a:solidFill>
            <a:srgbClr val="321A2C"/>
          </a:solidFill>
          <a:ln/>
        </p:spPr>
      </p:sp>
      <p:sp>
        <p:nvSpPr>
          <p:cNvPr id="3" name="Text 1"/>
          <p:cNvSpPr/>
          <p:nvPr/>
        </p:nvSpPr>
        <p:spPr>
          <a:xfrm>
            <a:off x="1129189" y="1135618"/>
            <a:ext cx="573167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" y="1755100"/>
            <a:ext cx="573083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Model Performance Comparison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005840" y="2495907"/>
            <a:ext cx="4090273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KNN</a:t>
            </a: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emerged as the superior model, achieving an impressive accuracy of approximately 95.2% and an AUC score of 89.8%.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3555325"/>
            <a:ext cx="4090273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Both Decision tree and Random Forest models demonstrated strong results, but showed some indications of slight overfitting when fine-tuned.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4614743"/>
            <a:ext cx="4090273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Logistic Regression, while having lower overall accuracy, provided valuable interpretability into feature importance.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5674162"/>
            <a:ext cx="4090273" cy="120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Crucially, threshold tuning significantly enhanced recall, improving it from 0.55 to 0.78, which is vital for effectively identifying potential churners.</a:t>
            </a:r>
            <a:endParaRPr lang="en-US" sz="1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306" y="2591853"/>
            <a:ext cx="7745452" cy="44227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81658" y="655796"/>
            <a:ext cx="886897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2713" y="1874434"/>
            <a:ext cx="7121366" cy="47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Evaluation Metrics &amp; Confusion Matrix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52713" y="3229133"/>
            <a:ext cx="8347591" cy="64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To comprehensively assess our models, we focused on key metrics: Accuracy, Precision, Recall, and F1-Score. These provide a holistic view of model effectiveness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2713" y="4395945"/>
            <a:ext cx="8347591" cy="64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confusion matrix for our top-performing KNN model highlighted its high true positive rate, indicating its ability to accurately detect customers likely to churn.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2713" y="5712073"/>
            <a:ext cx="8347591" cy="96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emphasis was primarily on maximizing </a:t>
            </a:r>
            <a:r>
              <a:rPr lang="en-US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Recall</a:t>
            </a: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minimize false negatives – situations where a churning customer is incorrectly predicted as retained. This is critical for business impact, ensuring no at-risk customer is overlooked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65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638" y="2379489"/>
            <a:ext cx="4939105" cy="40329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83180" y="868799"/>
            <a:ext cx="1241703" cy="252889"/>
          </a:xfrm>
          <a:prstGeom prst="roundRect">
            <a:avLst>
              <a:gd name="adj" fmla="val 20502"/>
            </a:avLst>
          </a:prstGeom>
          <a:solidFill>
            <a:srgbClr val="321A2C"/>
          </a:solidFill>
          <a:ln/>
        </p:spPr>
      </p:sp>
      <p:sp>
        <p:nvSpPr>
          <p:cNvPr id="3" name="Text 1"/>
          <p:cNvSpPr/>
          <p:nvPr/>
        </p:nvSpPr>
        <p:spPr>
          <a:xfrm>
            <a:off x="2675692" y="914995"/>
            <a:ext cx="1056680" cy="160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583180" y="1160264"/>
            <a:ext cx="576488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Insights &amp; Business Recommendations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2583180" y="1647825"/>
            <a:ext cx="9464040" cy="1355884"/>
          </a:xfrm>
          <a:prstGeom prst="roundRect">
            <a:avLst>
              <a:gd name="adj" fmla="val 478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5105" y="1809750"/>
            <a:ext cx="462915" cy="462915"/>
          </a:xfrm>
          <a:prstGeom prst="roundRect">
            <a:avLst>
              <a:gd name="adj" fmla="val 19751111"/>
            </a:avLst>
          </a:prstGeom>
          <a:solidFill>
            <a:srgbClr val="A95B95"/>
          </a:solidFill>
          <a:ln/>
        </p:spPr>
      </p:sp>
      <p:sp>
        <p:nvSpPr>
          <p:cNvPr id="8" name="Text 5"/>
          <p:cNvSpPr/>
          <p:nvPr/>
        </p:nvSpPr>
        <p:spPr>
          <a:xfrm>
            <a:off x="2745105" y="2369106"/>
            <a:ext cx="1714500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Targeted Retention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745105" y="2641282"/>
            <a:ext cx="9140190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Focus efforts on customers with short tenure and high monthly charges, as they are most susceptible to churn.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83180" y="3100149"/>
            <a:ext cx="9464040" cy="1355884"/>
          </a:xfrm>
          <a:prstGeom prst="roundRect">
            <a:avLst>
              <a:gd name="adj" fmla="val 478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5105" y="3262074"/>
            <a:ext cx="462915" cy="462915"/>
          </a:xfrm>
          <a:prstGeom prst="roundRect">
            <a:avLst>
              <a:gd name="adj" fmla="val 19751111"/>
            </a:avLst>
          </a:prstGeom>
          <a:solidFill>
            <a:srgbClr val="A95B95"/>
          </a:solidFill>
          <a:ln/>
        </p:spPr>
      </p:sp>
      <p:sp>
        <p:nvSpPr>
          <p:cNvPr id="13" name="Text 9"/>
          <p:cNvSpPr/>
          <p:nvPr/>
        </p:nvSpPr>
        <p:spPr>
          <a:xfrm>
            <a:off x="2745105" y="3821430"/>
            <a:ext cx="1774031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Service Improvement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745105" y="4093607"/>
            <a:ext cx="9140190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Enhance customer service responsiveness and efficiency to directly mitigate churn risk.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583180" y="4552474"/>
            <a:ext cx="9464040" cy="1355884"/>
          </a:xfrm>
          <a:prstGeom prst="roundRect">
            <a:avLst>
              <a:gd name="adj" fmla="val 478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5105" y="4714399"/>
            <a:ext cx="462915" cy="462915"/>
          </a:xfrm>
          <a:prstGeom prst="roundRect">
            <a:avLst>
              <a:gd name="adj" fmla="val 19751111"/>
            </a:avLst>
          </a:prstGeom>
          <a:solidFill>
            <a:srgbClr val="A95B95"/>
          </a:solidFill>
          <a:ln/>
        </p:spPr>
      </p:sp>
      <p:sp>
        <p:nvSpPr>
          <p:cNvPr id="18" name="Text 13"/>
          <p:cNvSpPr/>
          <p:nvPr/>
        </p:nvSpPr>
        <p:spPr>
          <a:xfrm>
            <a:off x="2745105" y="5273754"/>
            <a:ext cx="1714500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Personalized Offers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745105" y="5545931"/>
            <a:ext cx="9140190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Develop tailored marketing campaigns and flexible contract plans based on individual churn risk profiles.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2583180" y="6004798"/>
            <a:ext cx="9464040" cy="1355884"/>
          </a:xfrm>
          <a:prstGeom prst="roundRect">
            <a:avLst>
              <a:gd name="adj" fmla="val 478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745105" y="6166723"/>
            <a:ext cx="462915" cy="462915"/>
          </a:xfrm>
          <a:prstGeom prst="roundRect">
            <a:avLst>
              <a:gd name="adj" fmla="val 19751111"/>
            </a:avLst>
          </a:prstGeom>
          <a:solidFill>
            <a:srgbClr val="A95B95"/>
          </a:solidFill>
          <a:ln/>
        </p:spPr>
      </p:sp>
      <p:sp>
        <p:nvSpPr>
          <p:cNvPr id="23" name="Text 17"/>
          <p:cNvSpPr/>
          <p:nvPr/>
        </p:nvSpPr>
        <p:spPr>
          <a:xfrm>
            <a:off x="2745105" y="6726079"/>
            <a:ext cx="1926074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Continuous Monitoring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2745105" y="6998256"/>
            <a:ext cx="9140190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Regularly update and monitor models to adapt to the dynamic telecommunications market landscape.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274" y="683895"/>
            <a:ext cx="5308402" cy="545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 &amp; Next Steps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59274" y="1717715"/>
            <a:ext cx="245507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9274" y="2104430"/>
            <a:ext cx="6333887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5" name="Text 3"/>
          <p:cNvSpPr/>
          <p:nvPr/>
        </p:nvSpPr>
        <p:spPr>
          <a:xfrm>
            <a:off x="859274" y="2288143"/>
            <a:ext cx="35307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Targeted Churn Reduction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9274" y="2775466"/>
            <a:ext cx="6333887" cy="783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Predictive modeling offers a cost-effective approach to proactively reduce customer churn in telecommunications.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37239" y="1717715"/>
            <a:ext cx="245507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37239" y="2104430"/>
            <a:ext cx="6333887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9" name="Text 7"/>
          <p:cNvSpPr/>
          <p:nvPr/>
        </p:nvSpPr>
        <p:spPr>
          <a:xfrm>
            <a:off x="7437239" y="2288143"/>
            <a:ext cx="2727960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Robust Predictions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37239" y="2775466"/>
            <a:ext cx="6333887" cy="783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KNN model provides reliable, actionable predictions for telecom operators.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9274" y="3987046"/>
            <a:ext cx="245507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59274" y="4373761"/>
            <a:ext cx="6333887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3" name="Text 11"/>
          <p:cNvSpPr/>
          <p:nvPr/>
        </p:nvSpPr>
        <p:spPr>
          <a:xfrm>
            <a:off x="859274" y="4557474"/>
            <a:ext cx="2727960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Survival Analysis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59274" y="5044797"/>
            <a:ext cx="6333887" cy="783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Future work will incorporate survival analysis to predict the precise timing of churn events.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437239" y="3987046"/>
            <a:ext cx="245507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3050"/>
              </a:lnSpc>
              <a:buNone/>
            </a:pP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437239" y="5044797"/>
            <a:ext cx="6333887" cy="783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800427" y="6385558"/>
            <a:ext cx="3273623" cy="409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6000" dirty="0">
                <a:solidFill>
                  <a:srgbClr val="C6BFEE"/>
                </a:solidFill>
                <a:latin typeface="Pristina" panose="03060402040406080204" pitchFamily="66" charset="0"/>
                <a:ea typeface="Prompt Medium" pitchFamily="34" charset="-122"/>
                <a:cs typeface="Prompt Medium" pitchFamily="34" charset="-120"/>
              </a:rPr>
              <a:t>Thank</a:t>
            </a:r>
            <a:r>
              <a:rPr lang="en-US" sz="6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</a:t>
            </a:r>
            <a:r>
              <a:rPr lang="en-US" sz="6000" dirty="0">
                <a:solidFill>
                  <a:srgbClr val="C6BFEE"/>
                </a:solidFill>
                <a:latin typeface="Pristina" panose="03060402040406080204" pitchFamily="66" charset="0"/>
                <a:ea typeface="Prompt Medium" pitchFamily="34" charset="-122"/>
                <a:cs typeface="Prompt Medium" pitchFamily="34" charset="-120"/>
              </a:rPr>
              <a:t>you</a:t>
            </a:r>
            <a:r>
              <a:rPr lang="en-US" sz="6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!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859274" y="7153989"/>
            <a:ext cx="12911852" cy="391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100</TotalTime>
  <Words>719</Words>
  <Application>Microsoft Office PowerPoint</Application>
  <PresentationFormat>Custom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Bookman Old Style</vt:lpstr>
      <vt:lpstr>Bell MT</vt:lpstr>
      <vt:lpstr>Mukta Light</vt:lpstr>
      <vt:lpstr>Arial</vt:lpstr>
      <vt:lpstr>Pristina</vt:lpstr>
      <vt:lpstr>Prompt Light</vt:lpstr>
      <vt:lpstr>Calibri</vt:lpstr>
      <vt:lpstr>Goudy Old Style</vt:lpstr>
      <vt:lpstr>Century Gothic</vt:lpstr>
      <vt:lpstr>Prompt Medium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Srinidhi</dc:creator>
  <cp:lastModifiedBy>Microsoft account</cp:lastModifiedBy>
  <cp:revision>19</cp:revision>
  <dcterms:created xsi:type="dcterms:W3CDTF">2026-01-30T06:25:39Z</dcterms:created>
  <dcterms:modified xsi:type="dcterms:W3CDTF">2026-02-02T03:53:03Z</dcterms:modified>
</cp:coreProperties>
</file>